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Locking Down Copilot Studio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Calibri"/>
              </a:rPr>
              <a:t>Block Copilot Studio for all users — allow only the 'Copilot Studio Authors'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69080"/>
            <a:ext cx="8869680" cy="868680"/>
          </a:xfrm>
          <a:prstGeom prst="roundRect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Community workaround — not a Microsoft-supported solution (Layer 1)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Layers 2 &amp; 3 are Microsoft-supported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Sayed Ali · 2026-05-27 ·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The Challenge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2926080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0" b="1">
                <a:solidFill>
                  <a:srgbClr val="065A82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9260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C7293"/>
                </a:solidFill>
                <a:latin typeface="Calibri"/>
              </a:rPr>
              <a:t>independent access paths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554480"/>
            <a:ext cx="7406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600" b="1">
                <a:solidFill>
                  <a:srgbClr val="212121"/>
                </a:solidFill>
                <a:latin typeface="Calibri"/>
              </a:rPr>
              <a:t>Unlicensed users reach copilotstudio.microsoft.com</a:t>
            </a:r>
          </a:p>
          <a:p>
            <a:pPr algn="l"/>
            <a:r>
              <a:rPr sz="1300" b="0">
                <a:solidFill>
                  <a:srgbClr val="5A6770"/>
                </a:solidFill>
                <a:latin typeface="Calibri"/>
              </a:rPr>
              <a:t>Shadow agents created outside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2606040"/>
            <a:ext cx="7406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600" b="1">
                <a:solidFill>
                  <a:srgbClr val="212121"/>
                </a:solidFill>
                <a:latin typeface="Calibri"/>
              </a:rPr>
              <a:t>Same users self-create Teams / Power Platform environments</a:t>
            </a:r>
          </a:p>
          <a:p>
            <a:pPr algn="l"/>
            <a:r>
              <a:rPr sz="1300" b="0">
                <a:solidFill>
                  <a:srgbClr val="5A6770"/>
                </a:solidFill>
                <a:latin typeface="Calibri"/>
              </a:rPr>
              <a:t>Sprawl and ungoverned Dataverse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3657600"/>
            <a:ext cx="7406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600" b="1">
                <a:solidFill>
                  <a:srgbClr val="C62828"/>
                </a:solidFill>
                <a:latin typeface="Calibri"/>
              </a:rPr>
              <a:t>The PPAC 'authors' setting alone does not revoke access</a:t>
            </a:r>
          </a:p>
          <a:p>
            <a:pPr algn="l"/>
            <a:r>
              <a:rPr sz="1300" b="0">
                <a:solidFill>
                  <a:srgbClr val="5A6770"/>
                </a:solidFill>
                <a:latin typeface="Calibri"/>
              </a:rPr>
              <a:t>Any one of the 3 grant paths is enough — one control never blocks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Root Cause — Microsoft's access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Copilot Studio access is granted if ANY of these is true: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Member of the Copilot Studio authors group</a:t>
            </a:r>
          </a:p>
        </p:txBody>
      </p:sp>
      <p:sp>
        <p:nvSpPr>
          <p:cNvPr id="7" name="Oval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0175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Has a Copilot Studio per-user or trial license</a:t>
            </a:r>
          </a:p>
        </p:txBody>
      </p:sp>
      <p:sp>
        <p:nvSpPr>
          <p:cNvPr id="9" name="Oval 8"/>
          <p:cNvSpPr/>
          <p:nvPr/>
        </p:nvSpPr>
        <p:spPr>
          <a:xfrm>
            <a:off x="7955280" y="237744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0175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Has a Microsoft 365 Copilot license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698480" cy="777240"/>
          </a:xfrm>
          <a:prstGeom prst="roundRect">
            <a:avLst/>
          </a:prstGeom>
          <a:solidFill>
            <a:srgbClr val="FDF3E6"/>
          </a:solidFill>
          <a:ln w="1270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1">
                <a:solidFill>
                  <a:srgbClr val="E65100"/>
                </a:solidFill>
                <a:latin typeface="Calibri"/>
              </a:rPr>
              <a:t>Microsoft documents NO supported way to lock the portal via enterprise-app settings (Layer 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A6770"/>
                </a:solidFill>
                <a:latin typeface="Calibri"/>
              </a:rPr>
              <a:t>Source: learn.microsoft.com/troubleshoot/power-platform/copilot-studio/licensing/authors-access</a:t>
            </a:r>
          </a:p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Status: GA · Retrieved 2026-05-27 · Confidence: tenant-verified (M365CPI90282478)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Documented ≠ Actual — verified in tenant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371600"/>
            <a:ext cx="5257800" cy="5486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074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Microsoft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Removing the Copilot Studio license / service plan removes the user's Copilot Studio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54864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417320"/>
            <a:ext cx="5074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Verified in tenant · 2026-05-27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01168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1">
                <a:solidFill>
                  <a:srgbClr val="C62828"/>
                </a:solidFill>
                <a:latin typeface="Calibri"/>
              </a:rPr>
              <a:t>HadarC's Copilot Studio service plan is ALREADY disabled — yet access persists.</a:t>
            </a:r>
          </a:p>
          <a:p>
            <a:pPr algn="l"/>
            <a:r>
              <a:rPr sz="1300" b="0">
                <a:solidFill>
                  <a:srgbClr val="5A6770"/>
                </a:solidFill>
                <a:latin typeface="Calibri"/>
              </a:rPr>
              <a:t>Why: still in the authors group + holds an Enabled Power Apps service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5912" cy="1051560"/>
          </a:xfrm>
          <a:prstGeom prst="roundRect">
            <a:avLst/>
          </a:prstGeom>
          <a:solidFill>
            <a:srgbClr val="ECF2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Takeaway: remove license AND remove from the group — co-equal required steps; neither alone is enough.</a:t>
            </a:r>
          </a:p>
          <a:p>
            <a:pPr algn="l"/>
            <a:r>
              <a:rPr sz="1200" b="0">
                <a:solidFill>
                  <a:srgbClr val="5A6770"/>
                </a:solidFill>
                <a:latin typeface="Calibri"/>
              </a:rPr>
              <a:t>Also verified: allowedToSignUpEmailBasedSubscriptions = True (allowed). Set $false to block.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Fix Approach — layered defense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554480" y="13716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Tenant flags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Block non-admin env creation (prod / trial / dev)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SUPPORTED</a:t>
            </a:r>
          </a:p>
        </p:txBody>
      </p:sp>
      <p:sp>
        <p:nvSpPr>
          <p:cNvPr id="7" name="Oval 6"/>
          <p:cNvSpPr/>
          <p:nvPr/>
        </p:nvSpPr>
        <p:spPr>
          <a:xfrm>
            <a:off x="4343400" y="13716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4028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700" b="1">
                <a:solidFill>
                  <a:srgbClr val="2E7D32"/>
                </a:solidFill>
                <a:latin typeface="Calibri"/>
              </a:rPr>
              <a:t>Block trials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Remove Internal+Viral consent plans + Entra sign-up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25196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SUPPORTED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700" b="1">
                <a:solidFill>
                  <a:srgbClr val="F57F17"/>
                </a:solidFill>
                <a:latin typeface="Calibri"/>
              </a:rPr>
              <a:t>Portal lock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Restrict the 2 CPS apps to the Authors group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25196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57F17"/>
                </a:solidFill>
                <a:latin typeface="Calibri"/>
              </a:rPr>
              <a:t>UNSUPPORTED</a:t>
            </a:r>
          </a:p>
        </p:txBody>
      </p:sp>
      <p:sp>
        <p:nvSpPr>
          <p:cNvPr id="13" name="Oval 12"/>
          <p:cNvSpPr/>
          <p:nvPr/>
        </p:nvSpPr>
        <p:spPr>
          <a:xfrm>
            <a:off x="9921239" y="13716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2240280"/>
            <a:ext cx="2606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700" b="1">
                <a:solidFill>
                  <a:srgbClr val="1C7293"/>
                </a:solidFill>
                <a:latin typeface="Calibri"/>
              </a:rPr>
              <a:t>Access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Grant = add to group; revoke = remove + clear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39" y="425196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C7293"/>
                </a:solidFill>
                <a:latin typeface="Calibri"/>
              </a:rPr>
              <a:t>OPERATE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How It Works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diagram-cps-lockdown-2026-05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998" y="1143000"/>
            <a:ext cx="7663699" cy="507492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Risk Assessment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194560" y="1417320"/>
            <a:ext cx="2194560" cy="1371600"/>
          </a:xfrm>
          <a:prstGeom prst="rect">
            <a:avLst/>
          </a:prstGeom>
          <a:solidFill>
            <a:srgbClr val="F8C690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4560" y="2788920"/>
            <a:ext cx="2194560" cy="1371600"/>
          </a:xfrm>
          <a:prstGeom prst="rect">
            <a:avLst/>
          </a:prstGeom>
          <a:solidFill>
            <a:srgbClr val="A5C6AA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4160520"/>
            <a:ext cx="2194560" cy="1371600"/>
          </a:xfrm>
          <a:prstGeom prst="rect">
            <a:avLst/>
          </a:prstGeom>
          <a:solidFill>
            <a:srgbClr val="A5C6AA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417320"/>
            <a:ext cx="2194560" cy="1371600"/>
          </a:xfrm>
          <a:prstGeom prst="rect">
            <a:avLst/>
          </a:prstGeom>
          <a:solidFill>
            <a:srgbClr val="F2BB99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2788920"/>
            <a:ext cx="2194560" cy="1371600"/>
          </a:xfrm>
          <a:prstGeom prst="rect">
            <a:avLst/>
          </a:prstGeom>
          <a:solidFill>
            <a:srgbClr val="F8C690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4160520"/>
            <a:ext cx="2194560" cy="1371600"/>
          </a:xfrm>
          <a:prstGeom prst="rect">
            <a:avLst/>
          </a:prstGeom>
          <a:solidFill>
            <a:srgbClr val="A5C6AA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417320"/>
            <a:ext cx="2194560" cy="1371600"/>
          </a:xfrm>
          <a:prstGeom prst="rect">
            <a:avLst/>
          </a:prstGeom>
          <a:solidFill>
            <a:srgbClr val="E2A4A6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788920"/>
            <a:ext cx="2194560" cy="1371600"/>
          </a:xfrm>
          <a:prstGeom prst="rect">
            <a:avLst/>
          </a:prstGeom>
          <a:solidFill>
            <a:srgbClr val="F2BB99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4160520"/>
            <a:ext cx="2194560" cy="1371600"/>
          </a:xfrm>
          <a:prstGeom prst="rect">
            <a:avLst/>
          </a:prstGeom>
          <a:solidFill>
            <a:srgbClr val="F8C690"/>
          </a:solidFill>
          <a:ln w="12700">
            <a:solidFill>
              <a:srgbClr val="D0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15544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5A6770"/>
                </a:solidFill>
                <a:latin typeface="Calibri"/>
              </a:rPr>
              <a:t>Impact → High</a:t>
            </a:r>
          </a:p>
          <a:p>
            <a:pPr algn="r"/>
            <a:r>
              <a:rPr sz="1200" b="0">
                <a:solidFill>
                  <a:srgbClr val="5A6770"/>
                </a:solidFill>
                <a:latin typeface="Calibri"/>
              </a:rPr>
              <a:t/>
            </a:r>
          </a:p>
          <a:p>
            <a:pPr algn="r"/>
            <a:r>
              <a:rPr sz="1200" b="1">
                <a:solidFill>
                  <a:srgbClr val="5A6770"/>
                </a:solidFill>
                <a:latin typeface="Calibri"/>
              </a:rPr>
              <a:t>Med</a:t>
            </a:r>
          </a:p>
          <a:p>
            <a:pPr algn="r"/>
            <a:r>
              <a:rPr sz="1200" b="0">
                <a:solidFill>
                  <a:srgbClr val="5A6770"/>
                </a:solidFill>
                <a:latin typeface="Calibri"/>
              </a:rPr>
              <a:t/>
            </a:r>
          </a:p>
          <a:p>
            <a:pPr algn="r"/>
            <a:r>
              <a:rPr sz="1200" b="1">
                <a:solidFill>
                  <a:srgbClr val="5A6770"/>
                </a:solidFill>
                <a:latin typeface="Calibri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57784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5A6770"/>
                </a:solidFill>
                <a:latin typeface="Calibri"/>
              </a:rPr>
              <a:t>Likelihood:   Low            Medium            High</a:t>
            </a:r>
          </a:p>
        </p:txBody>
      </p:sp>
      <p:sp>
        <p:nvSpPr>
          <p:cNvPr id="15" name="Oval 14"/>
          <p:cNvSpPr/>
          <p:nvPr/>
        </p:nvSpPr>
        <p:spPr>
          <a:xfrm>
            <a:off x="7429500" y="1856232"/>
            <a:ext cx="457200" cy="45720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6" name="Oval 15"/>
          <p:cNvSpPr/>
          <p:nvPr/>
        </p:nvSpPr>
        <p:spPr>
          <a:xfrm>
            <a:off x="5234940" y="185623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7" name="Oval 16"/>
          <p:cNvSpPr/>
          <p:nvPr/>
        </p:nvSpPr>
        <p:spPr>
          <a:xfrm>
            <a:off x="3040380" y="1856232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8" name="Oval 17"/>
          <p:cNvSpPr/>
          <p:nvPr/>
        </p:nvSpPr>
        <p:spPr>
          <a:xfrm>
            <a:off x="4732020" y="3227832"/>
            <a:ext cx="457200" cy="457200"/>
          </a:xfrm>
          <a:prstGeom prst="ellipse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19" name="Oval 18"/>
          <p:cNvSpPr/>
          <p:nvPr/>
        </p:nvSpPr>
        <p:spPr>
          <a:xfrm>
            <a:off x="5234940" y="3227832"/>
            <a:ext cx="457200" cy="457200"/>
          </a:xfrm>
          <a:prstGeom prst="ellipse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R5</a:t>
            </a:r>
          </a:p>
        </p:txBody>
      </p:sp>
      <p:sp>
        <p:nvSpPr>
          <p:cNvPr id="20" name="Oval 19"/>
          <p:cNvSpPr/>
          <p:nvPr/>
        </p:nvSpPr>
        <p:spPr>
          <a:xfrm>
            <a:off x="5737860" y="3227832"/>
            <a:ext cx="457200" cy="457200"/>
          </a:xfrm>
          <a:prstGeom prst="ellipse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R6</a:t>
            </a:r>
          </a:p>
        </p:txBody>
      </p:sp>
      <p:sp>
        <p:nvSpPr>
          <p:cNvPr id="21" name="Oval 20"/>
          <p:cNvSpPr/>
          <p:nvPr/>
        </p:nvSpPr>
        <p:spPr>
          <a:xfrm>
            <a:off x="9006840" y="1463040"/>
            <a:ext cx="201168" cy="20116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46304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R1  M365 Copilot license bypasses group (Critical)</a:t>
            </a:r>
          </a:p>
        </p:txBody>
      </p:sp>
      <p:sp>
        <p:nvSpPr>
          <p:cNvPr id="23" name="Oval 22"/>
          <p:cNvSpPr/>
          <p:nvPr/>
        </p:nvSpPr>
        <p:spPr>
          <a:xfrm>
            <a:off x="9006840" y="2029968"/>
            <a:ext cx="201168" cy="20116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029968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R2  MS may change first-party app behavior (High)</a:t>
            </a:r>
          </a:p>
        </p:txBody>
      </p:sp>
      <p:sp>
        <p:nvSpPr>
          <p:cNvPr id="25" name="Oval 24"/>
          <p:cNvSpPr/>
          <p:nvPr/>
        </p:nvSpPr>
        <p:spPr>
          <a:xfrm>
            <a:off x="9006840" y="2596896"/>
            <a:ext cx="201168" cy="20116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596896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R3  Locking CPS Service app may break agents (High)</a:t>
            </a:r>
          </a:p>
        </p:txBody>
      </p:sp>
      <p:sp>
        <p:nvSpPr>
          <p:cNvPr id="27" name="Oval 26"/>
          <p:cNvSpPr/>
          <p:nvPr/>
        </p:nvSpPr>
        <p:spPr>
          <a:xfrm>
            <a:off x="9006840" y="3163824"/>
            <a:ext cx="201168" cy="201168"/>
          </a:xfrm>
          <a:prstGeom prst="ellipse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163824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alibri"/>
              </a:rPr>
              <a:t>R4 appId undocumented · R5 broad trial block · R6 no -WhatIf (Med)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Impact / Blast Radius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371600"/>
            <a:ext cx="3474720" cy="50292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2286000" cy="50292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782312" cy="50292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Side effects beyond the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47672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Disable non-admin env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47672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All non-admins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947672"/>
            <a:ext cx="4782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Blocks ALL Power Platform env creation; existing kept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35224"/>
            <a:ext cx="3474720" cy="9144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Remove Internal+Viral consent plans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35224"/>
            <a:ext cx="2286000" cy="9144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Tenant-wide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935224"/>
            <a:ext cx="4782312" cy="9144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Stops self-service trials for ALL PP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22776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>
                <a:solidFill>
                  <a:srgbClr val="212121"/>
                </a:solidFill>
                <a:latin typeface="Calibri"/>
              </a:rPr>
              <a:t>allowedToSignUpEmailBasedSubscriptions=$false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922776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Tenant-wide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922776"/>
            <a:ext cx="4782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Blocks email-based self-service sign-up org-wide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0328"/>
            <a:ext cx="3474720" cy="914400"/>
          </a:xfrm>
          <a:prstGeom prst="roundRect">
            <a:avLst/>
          </a:prstGeom>
          <a:solidFill>
            <a:srgbClr val="F57F1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AppRoleAssignmentRequired on 2 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910328"/>
            <a:ext cx="2286000" cy="914400"/>
          </a:xfrm>
          <a:prstGeom prst="roundRect">
            <a:avLst/>
          </a:prstGeom>
          <a:solidFill>
            <a:srgbClr val="F57F1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PVA + CPS 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910328"/>
            <a:ext cx="4782312" cy="914400"/>
          </a:xfrm>
          <a:prstGeom prst="roundRect">
            <a:avLst/>
          </a:prstGeom>
          <a:solidFill>
            <a:srgbClr val="F57F1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Global Admins exempt; may affect existing agents; unsupported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Permissions Needed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371600"/>
            <a:ext cx="5257800" cy="54864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074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Admin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371600"/>
            <a:ext cx="5257800" cy="5486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417320"/>
            <a:ext cx="5074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Graph scopes / cmdlet rights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Global Administrator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Power Platform Administrator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1">
                <a:solidFill>
                  <a:srgbClr val="212121"/>
                </a:solidFill>
                <a:latin typeface="Calibri"/>
              </a:rPr>
              <a:t>(grant/revoke) Group writer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05740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Application.ReadWrite.All · AppRoleAssignment.ReadWrite.All · Group.Read.All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10896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Add-PowerAppsAccount · Set-TenantSettings · Remove-AllowedConsentPlans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1605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Policy.ReadWrite.Authorization (new) · Group.ReadWrite.All · User.Read.All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Prerequisites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463040"/>
            <a:ext cx="9692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'Copilot Studio Authors' security group exists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9572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395728"/>
            <a:ext cx="9692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PowerShell modules incl. Microsoft.Graph.Identity.SignIns (new)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28416"/>
            <a:ext cx="457200" cy="457200"/>
          </a:xfrm>
          <a:prstGeom prst="ellipse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3328416"/>
            <a:ext cx="9692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Decide handling of Microsoft 365 Copilot–licensed users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261104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4261104"/>
            <a:ext cx="9692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Expect 2 interactive sign-ins (Power Platform + Graph)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193792"/>
            <a:ext cx="457200" cy="457200"/>
          </a:xfrm>
          <a:prstGeom prst="ellipse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5193792"/>
            <a:ext cx="9692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Run in a change window — Layer 1 touches first-party apps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Rollback &amp;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32688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2743200"/>
            <a:ext cx="9966960" cy="0"/>
          </a:xfrm>
          <a:prstGeom prst="bentConnector3">
            <a:avLst/>
          </a:prstGeom>
          <a:ln w="25400">
            <a:solidFill>
              <a:srgbClr val="5A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371600" y="24688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065A82"/>
                </a:solidFill>
                <a:latin typeface="Calibri"/>
              </a:rPr>
              <a:t>APPLY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03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200" b="0">
                <a:solidFill>
                  <a:srgbClr val="212121"/>
                </a:solidFill>
                <a:latin typeface="Calibri"/>
              </a:rPr>
              <a:t>Run lockdown script (+ Entra flag step)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24688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C7293"/>
                </a:solidFill>
                <a:latin typeface="Calibri"/>
              </a:rPr>
              <a:t>VERIFY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703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200" b="0">
                <a:solidFill>
                  <a:srgbClr val="212121"/>
                </a:solidFill>
                <a:latin typeface="Calibri"/>
              </a:rPr>
              <a:t>Read-only probes + manual sign-in (T1/T2)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2468880"/>
            <a:ext cx="548640" cy="54864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004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E65100"/>
                </a:solidFill>
                <a:latin typeface="Calibri"/>
              </a:rPr>
              <a:t>ROLLBACK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703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200" b="0">
                <a:solidFill>
                  <a:srgbClr val="212121"/>
                </a:solidFill>
                <a:latin typeface="Calibri"/>
              </a:rPr>
              <a:t>Flags→false · re-add plans · AppRoleReq→false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0" y="246888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Calibri"/>
              </a:rPr>
              <a:t>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703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200" b="0">
                <a:solidFill>
                  <a:srgbClr val="212121"/>
                </a:solidFill>
                <a:latin typeface="Calibri"/>
              </a:rPr>
              <a:t>Add -WhatIf · log M365 Copilot decision · re-check appIds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74552" cy="0"/>
          </a:xfrm>
          <a:prstGeom prst="bentConnector3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46520"/>
            <a:ext cx="9601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Microsoft CSA Assessment · Customer · 2026-05-27 ·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1615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